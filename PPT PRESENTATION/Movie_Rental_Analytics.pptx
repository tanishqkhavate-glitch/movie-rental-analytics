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302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" name="Shape 1"/>
          <p:cNvSpPr/>
          <p:nvPr/>
        </p:nvSpPr>
        <p:spPr>
          <a:xfrm>
            <a:off x="6675120" y="0"/>
            <a:ext cx="2468880" cy="5143500"/>
          </a:xfrm>
          <a:prstGeom prst="rect">
            <a:avLst/>
          </a:prstGeom>
          <a:solidFill>
            <a:srgbClr val="132032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0"/>
            <a:ext cx="27432" cy="51435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457200"/>
            <a:ext cx="2103120" cy="914400"/>
          </a:xfrm>
          <a:prstGeom prst="rect">
            <a:avLst/>
          </a:prstGeom>
          <a:solidFill>
            <a:srgbClr val="0F25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50292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A0"/>
                </a:solidFill>
              </a:rPr>
              <a:t>$67,406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0" y="9875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</a:rPr>
              <a:t>Total Revenue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0" y="1572768"/>
            <a:ext cx="2103120" cy="914400"/>
          </a:xfrm>
          <a:prstGeom prst="rect">
            <a:avLst/>
          </a:prstGeom>
          <a:solidFill>
            <a:srgbClr val="0F25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161848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</a:rPr>
              <a:t>16,044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0" y="2103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</a:rPr>
              <a:t>Total Rentals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0" y="2688336"/>
            <a:ext cx="2103120" cy="914400"/>
          </a:xfrm>
          <a:prstGeom prst="rect">
            <a:avLst/>
          </a:prstGeom>
          <a:solidFill>
            <a:srgbClr val="0F25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2734056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A0"/>
                </a:solidFill>
              </a:rPr>
              <a:t>584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858000" y="32186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</a:rPr>
              <a:t>Active Customers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0" y="3803904"/>
            <a:ext cx="2103120" cy="914400"/>
          </a:xfrm>
          <a:prstGeom prst="rect">
            <a:avLst/>
          </a:prstGeom>
          <a:solidFill>
            <a:srgbClr val="0F25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3849624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</a:rPr>
              <a:t>1,000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58000" y="433425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</a:rPr>
              <a:t>Total Films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64008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RENTAL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274320" y="123444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3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274320" y="201168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data analysis of the Rental database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 sales, customer behaviour, film inventory &amp; business insights.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1097280" cy="256032"/>
          </a:xfrm>
          <a:prstGeom prst="rect">
            <a:avLst/>
          </a:prstGeom>
          <a:solidFill>
            <a:srgbClr val="0F25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8A0"/>
                </a:solidFill>
              </a:rPr>
              <a:t>PostgreSQL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508760" y="3017520"/>
            <a:ext cx="1097280" cy="256032"/>
          </a:xfrm>
          <a:prstGeom prst="rect">
            <a:avLst/>
          </a:prstGeom>
          <a:solidFill>
            <a:srgbClr val="0F25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08760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8A0"/>
                </a:solidFill>
              </a:rPr>
              <a:t>Excel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0" y="3017520"/>
            <a:ext cx="1097280" cy="256032"/>
          </a:xfrm>
          <a:prstGeom prst="rect">
            <a:avLst/>
          </a:prstGeom>
          <a:solidFill>
            <a:srgbClr val="0F25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8A0"/>
                </a:solidFill>
              </a:rPr>
              <a:t>Power BI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977640" y="3017520"/>
            <a:ext cx="1097280" cy="256032"/>
          </a:xfrm>
          <a:prstGeom prst="rect">
            <a:avLst/>
          </a:prstGeom>
          <a:solidFill>
            <a:srgbClr val="0F25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77640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8A0"/>
                </a:solidFill>
              </a:rPr>
              <a:t>EDA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212080" y="3017520"/>
            <a:ext cx="1097280" cy="256032"/>
          </a:xfrm>
          <a:prstGeom prst="rect">
            <a:avLst/>
          </a:prstGeom>
          <a:solidFill>
            <a:srgbClr val="0F25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8A0"/>
                </a:solidFill>
              </a:rPr>
              <a:t>Data Modelling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74320" y="44805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A9BBF"/>
                </a:solidFill>
              </a:rPr>
              <a:t>DOMAIN: DVD Rental Store   |   DATASET: 18 Tables, 16K+ Transactions   |   PERIOD: May 2005 – Feb 2006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68680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9BBF"/>
                </a:solidFill>
              </a:rPr>
              <a:t>01 / 11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DATASET OVERVIEW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28600" y="38404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01168" y="960120"/>
            <a:ext cx="1325880" cy="749808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987552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A0"/>
                </a:solidFill>
              </a:rPr>
              <a:t>18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1168" y="1408176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BBF"/>
                </a:solidFill>
              </a:rPr>
              <a:t>Tables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691640" y="960120"/>
            <a:ext cx="1325880" cy="749808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987552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A0"/>
                </a:solidFill>
              </a:rPr>
              <a:t>1,000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1408176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BBF"/>
                </a:solidFill>
              </a:rPr>
              <a:t>Films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82112" y="960120"/>
            <a:ext cx="1325880" cy="749808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82112" y="987552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A0"/>
                </a:solidFill>
              </a:rPr>
              <a:t>599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182112" y="1408176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BBF"/>
                </a:solidFill>
              </a:rPr>
              <a:t>Customers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72584" y="960120"/>
            <a:ext cx="1325880" cy="749808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72584" y="987552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A0"/>
                </a:solidFill>
              </a:rPr>
              <a:t>16,044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72584" y="1408176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BBF"/>
                </a:solidFill>
              </a:rPr>
              <a:t>Rentals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63056" y="960120"/>
            <a:ext cx="1325880" cy="749808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63056" y="987552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A0"/>
                </a:solidFill>
              </a:rPr>
              <a:t>4,581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63056" y="1408176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BBF"/>
                </a:solidFill>
              </a:rPr>
              <a:t>Inventory Items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653528" y="960120"/>
            <a:ext cx="1325880" cy="749808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53528" y="987552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A0"/>
                </a:solidFill>
              </a:rPr>
              <a:t>109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653528" y="1408176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BBF"/>
                </a:solidFill>
              </a:rPr>
              <a:t>Countries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01168" y="1920240"/>
            <a:ext cx="4251960" cy="91440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1168" y="1920240"/>
            <a:ext cx="64008" cy="9144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20116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A0"/>
                </a:solidFill>
              </a:rPr>
              <a:t>TRANSACTIONS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230428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9BBF"/>
                </a:solidFill>
              </a:rPr>
              <a:t>payment · rental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1168" y="2971800"/>
            <a:ext cx="4251960" cy="91440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1168" y="2971800"/>
            <a:ext cx="64008" cy="9144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0632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</a:rPr>
              <a:t>CONTENT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335584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9BBF"/>
                </a:solidFill>
              </a:rPr>
              <a:t>film · film_actor · film_category · film_text · category · language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920240"/>
            <a:ext cx="4251960" cy="91440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1920240"/>
            <a:ext cx="64008" cy="914400"/>
          </a:xfrm>
          <a:prstGeom prst="rect">
            <a:avLst/>
          </a:prstGeom>
          <a:solidFill>
            <a:srgbClr val="4FB8E0"/>
          </a:solidFill>
          <a:ln/>
        </p:spPr>
      </p:sp>
      <p:sp>
        <p:nvSpPr>
          <p:cNvPr id="34" name="Text 32"/>
          <p:cNvSpPr/>
          <p:nvPr/>
        </p:nvSpPr>
        <p:spPr>
          <a:xfrm>
            <a:off x="4828032" y="20116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B8E0"/>
                </a:solidFill>
              </a:rPr>
              <a:t>CUSTOMERS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28032" y="230428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9BBF"/>
                </a:solidFill>
              </a:rPr>
              <a:t>customer · address · city · country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2971800"/>
            <a:ext cx="4251960" cy="91440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2971800"/>
            <a:ext cx="64008" cy="914400"/>
          </a:xfrm>
          <a:prstGeom prst="rect">
            <a:avLst/>
          </a:prstGeom>
          <a:solidFill>
            <a:srgbClr val="A07AFF"/>
          </a:solidFill>
          <a:ln/>
        </p:spPr>
      </p:sp>
      <p:sp>
        <p:nvSpPr>
          <p:cNvPr id="38" name="Text 36"/>
          <p:cNvSpPr/>
          <p:nvPr/>
        </p:nvSpPr>
        <p:spPr>
          <a:xfrm>
            <a:off x="4828032" y="30632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7AFF"/>
                </a:solidFill>
              </a:rPr>
              <a:t>OPERATIONS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28032" y="335584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9BBF"/>
                </a:solidFill>
              </a:rPr>
              <a:t>store · staff · inventory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01168" y="411480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07B3F"/>
                </a:solidFill>
              </a:rPr>
              <a:t>⚠  Covers only 5 months (May 2005–Feb 2006). Seasonal trends are directional. No age/gender columns available.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68680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9BBF"/>
                </a:solidFill>
              </a:rPr>
              <a:t>02 / 11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METHODOLOGY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28600" y="38404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Process Layout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01168" y="1005840"/>
            <a:ext cx="2761488" cy="1572768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005840"/>
            <a:ext cx="2761488" cy="36576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" y="111556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8A0"/>
                </a:solidFill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38328" y="1508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Collection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81051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Sakila DB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18 CSV files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PostgreSQL load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962656" y="1719072"/>
            <a:ext cx="201168" cy="4572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12" name="Text 10"/>
          <p:cNvSpPr/>
          <p:nvPr/>
        </p:nvSpPr>
        <p:spPr>
          <a:xfrm>
            <a:off x="3145536" y="1636776"/>
            <a:ext cx="137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A0"/>
                </a:solidFill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82112" y="1005840"/>
            <a:ext cx="2761488" cy="1572768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82112" y="1005840"/>
            <a:ext cx="2761488" cy="36576"/>
          </a:xfrm>
          <a:prstGeom prst="rect">
            <a:avLst/>
          </a:prstGeom>
          <a:solidFill>
            <a:srgbClr val="4FB8E0"/>
          </a:solidFill>
          <a:ln/>
        </p:spPr>
      </p:sp>
      <p:sp>
        <p:nvSpPr>
          <p:cNvPr id="15" name="Text 13"/>
          <p:cNvSpPr/>
          <p:nvPr/>
        </p:nvSpPr>
        <p:spPr>
          <a:xfrm>
            <a:off x="3319272" y="111556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B8E0"/>
                </a:solidFill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19272" y="1508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Cleaning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9272" y="181051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Null checks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Type corrections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Relationship mapping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0" y="1719072"/>
            <a:ext cx="201168" cy="45720"/>
          </a:xfrm>
          <a:prstGeom prst="rect">
            <a:avLst/>
          </a:prstGeom>
          <a:solidFill>
            <a:srgbClr val="4FB8E0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636776"/>
            <a:ext cx="137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B8E0"/>
                </a:solidFill>
              </a:rPr>
              <a:t>▶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63056" y="1005840"/>
            <a:ext cx="2761488" cy="1572768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163056" y="1005840"/>
            <a:ext cx="2761488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6300216" y="111556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</a:rPr>
              <a:t>03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00216" y="1508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EDA via SQL and Excel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0216" y="181051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15 business questions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PostgreSQL queries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Key insight extraction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01168" y="2834640"/>
            <a:ext cx="2761488" cy="1572768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1168" y="2834640"/>
            <a:ext cx="2761488" cy="36576"/>
          </a:xfrm>
          <a:prstGeom prst="rect">
            <a:avLst/>
          </a:prstGeom>
          <a:solidFill>
            <a:srgbClr val="A07AFF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" y="294436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07AFF"/>
                </a:solidFill>
              </a:rPr>
              <a:t>04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38328" y="3337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MECE Framework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" y="363931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Structured breakdown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No overlap coverage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Analysis planning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962656" y="3547872"/>
            <a:ext cx="201168" cy="45720"/>
          </a:xfrm>
          <a:prstGeom prst="rect">
            <a:avLst/>
          </a:prstGeom>
          <a:solidFill>
            <a:srgbClr val="A07AFF"/>
          </a:solidFill>
          <a:ln/>
        </p:spPr>
      </p:sp>
      <p:sp>
        <p:nvSpPr>
          <p:cNvPr id="31" name="Text 29"/>
          <p:cNvSpPr/>
          <p:nvPr/>
        </p:nvSpPr>
        <p:spPr>
          <a:xfrm>
            <a:off x="3145536" y="3465576"/>
            <a:ext cx="137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7AFF"/>
                </a:solidFill>
              </a:rPr>
              <a:t>▶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182112" y="2834640"/>
            <a:ext cx="2761488" cy="1572768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82112" y="2834640"/>
            <a:ext cx="2761488" cy="36576"/>
          </a:xfrm>
          <a:prstGeom prst="rect">
            <a:avLst/>
          </a:prstGeom>
          <a:solidFill>
            <a:srgbClr val="F97B6B"/>
          </a:solidFill>
          <a:ln/>
        </p:spPr>
      </p:sp>
      <p:sp>
        <p:nvSpPr>
          <p:cNvPr id="34" name="Text 32"/>
          <p:cNvSpPr/>
          <p:nvPr/>
        </p:nvSpPr>
        <p:spPr>
          <a:xfrm>
            <a:off x="3319272" y="294436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7B6B"/>
                </a:solidFill>
              </a:rPr>
              <a:t>05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3319272" y="3337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Power BI Modelling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19272" y="363931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Star schema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DAX measures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Relationships defined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943600" y="3547872"/>
            <a:ext cx="201168" cy="45720"/>
          </a:xfrm>
          <a:prstGeom prst="rect">
            <a:avLst/>
          </a:prstGeom>
          <a:solidFill>
            <a:srgbClr val="F97B6B"/>
          </a:solidFill>
          <a:ln/>
        </p:spPr>
      </p:sp>
      <p:sp>
        <p:nvSpPr>
          <p:cNvPr id="38" name="Text 36"/>
          <p:cNvSpPr/>
          <p:nvPr/>
        </p:nvSpPr>
        <p:spPr>
          <a:xfrm>
            <a:off x="6126480" y="3465576"/>
            <a:ext cx="137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7B6B"/>
                </a:solidFill>
              </a:rPr>
              <a:t>▶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63056" y="2834640"/>
            <a:ext cx="2761488" cy="1572768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63056" y="2834640"/>
            <a:ext cx="2761488" cy="36576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41" name="Text 39"/>
          <p:cNvSpPr/>
          <p:nvPr/>
        </p:nvSpPr>
        <p:spPr>
          <a:xfrm>
            <a:off x="6300216" y="294436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8A0"/>
                </a:solidFill>
              </a:rPr>
              <a:t>06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300216" y="3337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Dashboard &amp; Insights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00216" y="363931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4 dashboards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KPI cards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Business recommendations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68680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9BBF"/>
                </a:solidFill>
              </a:rPr>
              <a:t>03 / 11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solidFill>
            <a:srgbClr val="A07A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MECE FRAMEWORK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28600" y="38404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MECE Breakdown — Analysis Coverage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79552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9BBF"/>
                </a:solidFill>
              </a:rPr>
              <a:t>Mutually Exclusive · Collectively Exhaustive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68680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9BBF"/>
                </a:solidFill>
              </a:rPr>
              <a:t>04 / 11</a:t>
            </a:r>
            <a:endParaRPr lang="en-US" sz="700" dirty="0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29810851-D0EE-88A3-8C99-5B544B7DC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51560"/>
            <a:ext cx="8711522" cy="39225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EDA — QUESTIONS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28600" y="38404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28600" y="795528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F"/>
                </a:solidFill>
              </a:rPr>
              <a:t>15 business questions answered using PostgreSQL queries across all key dimensions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" y="1115568"/>
            <a:ext cx="2103120" cy="292608"/>
          </a:xfrm>
          <a:prstGeom prst="rect">
            <a:avLst/>
          </a:prstGeom>
          <a:solidFill>
            <a:srgbClr val="4FB8E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11556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Customer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" y="1463040"/>
            <a:ext cx="2103120" cy="77724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" y="1463040"/>
            <a:ext cx="54864" cy="777240"/>
          </a:xfrm>
          <a:prstGeom prst="rect">
            <a:avLst/>
          </a:prstGeom>
          <a:solidFill>
            <a:srgbClr val="4FB8E0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" y="1517904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Q1 – New vs repeat</a:t>
            </a:r>
            <a:endParaRPr lang="en-US" sz="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purchasing patterns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01168" y="2331720"/>
            <a:ext cx="2103120" cy="77724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2331720"/>
            <a:ext cx="54864" cy="777240"/>
          </a:xfrm>
          <a:prstGeom prst="rect">
            <a:avLst/>
          </a:prstGeom>
          <a:solidFill>
            <a:srgbClr val="4FB8E0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" y="2386584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Q6 – Loyalty tier</a:t>
            </a:r>
            <a:endParaRPr lang="en-US" sz="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impact on revenue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01168" y="3200400"/>
            <a:ext cx="2103120" cy="77724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" y="3200400"/>
            <a:ext cx="54864" cy="777240"/>
          </a:xfrm>
          <a:prstGeom prst="rect">
            <a:avLst/>
          </a:prstGeom>
          <a:solidFill>
            <a:srgbClr val="4FB8E0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" y="3255264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Q9 – Store proximity</a:t>
            </a:r>
            <a:endParaRPr lang="en-US" sz="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vs rental frequency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01168" y="4069080"/>
            <a:ext cx="2103120" cy="77724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" y="4069080"/>
            <a:ext cx="54864" cy="777240"/>
          </a:xfrm>
          <a:prstGeom prst="rect">
            <a:avLst/>
          </a:prstGeom>
          <a:solidFill>
            <a:srgbClr val="4FB8E0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" y="4123944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Q11 – Top spender</a:t>
            </a:r>
            <a:endParaRPr lang="en-US" sz="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demographics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441448" y="1115568"/>
            <a:ext cx="2103120" cy="292608"/>
          </a:xfrm>
          <a:prstGeom prst="rect">
            <a:avLst/>
          </a:prstGeom>
          <a:solidFill>
            <a:srgbClr val="00C8A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32888" y="111556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Film &amp; Inventory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41448" y="1463040"/>
            <a:ext cx="2103120" cy="77724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41448" y="1463040"/>
            <a:ext cx="54864" cy="77724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25" name="Text 23"/>
          <p:cNvSpPr/>
          <p:nvPr/>
        </p:nvSpPr>
        <p:spPr>
          <a:xfrm>
            <a:off x="2569464" y="1517904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Q2 – Highest rental</a:t>
            </a:r>
            <a:endParaRPr lang="en-US" sz="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rate films &amp; demand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441448" y="2331720"/>
            <a:ext cx="2103120" cy="77724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41448" y="2331720"/>
            <a:ext cx="54864" cy="77724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28" name="Text 26"/>
          <p:cNvSpPr/>
          <p:nvPr/>
        </p:nvSpPr>
        <p:spPr>
          <a:xfrm>
            <a:off x="2569464" y="2386584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Q5 – Language films</a:t>
            </a:r>
            <a:endParaRPr lang="en-US" sz="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vs customer segments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441448" y="3200400"/>
            <a:ext cx="2103120" cy="77724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41448" y="3200400"/>
            <a:ext cx="54864" cy="77724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1" name="Text 29"/>
          <p:cNvSpPr/>
          <p:nvPr/>
        </p:nvSpPr>
        <p:spPr>
          <a:xfrm>
            <a:off x="2569464" y="3255264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Q10 – Film category</a:t>
            </a:r>
            <a:endParaRPr lang="en-US" sz="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vs customer tenure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441448" y="4069080"/>
            <a:ext cx="2103120" cy="77724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41448" y="4069080"/>
            <a:ext cx="54864" cy="77724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4" name="Text 32"/>
          <p:cNvSpPr/>
          <p:nvPr/>
        </p:nvSpPr>
        <p:spPr>
          <a:xfrm>
            <a:off x="2569464" y="4123944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Q12 – Inventory impact</a:t>
            </a:r>
            <a:endParaRPr lang="en-US" sz="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on repeat business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81728" y="1115568"/>
            <a:ext cx="2103120" cy="292608"/>
          </a:xfrm>
          <a:prstGeom prst="rect">
            <a:avLst/>
          </a:prstGeom>
          <a:solidFill>
            <a:srgbClr val="F5A62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3168" y="111556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Location &amp; Trends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81728" y="1463040"/>
            <a:ext cx="2103120" cy="77724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81728" y="1463040"/>
            <a:ext cx="54864" cy="777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9" name="Text 37"/>
          <p:cNvSpPr/>
          <p:nvPr/>
        </p:nvSpPr>
        <p:spPr>
          <a:xfrm>
            <a:off x="4809744" y="1517904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Q4 – Seasonal trends</a:t>
            </a:r>
            <a:endParaRPr lang="en-US" sz="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by location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81728" y="2331720"/>
            <a:ext cx="2103120" cy="77724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81728" y="2331720"/>
            <a:ext cx="54864" cy="777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2" name="Text 40"/>
          <p:cNvSpPr/>
          <p:nvPr/>
        </p:nvSpPr>
        <p:spPr>
          <a:xfrm>
            <a:off x="4809744" y="2386584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Q7 – Category popularity</a:t>
            </a:r>
            <a:endParaRPr lang="en-US" sz="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by location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681728" y="3200400"/>
            <a:ext cx="2103120" cy="77724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81728" y="3200400"/>
            <a:ext cx="54864" cy="777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5" name="Text 43"/>
          <p:cNvSpPr/>
          <p:nvPr/>
        </p:nvSpPr>
        <p:spPr>
          <a:xfrm>
            <a:off x="4809744" y="3255264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Q13 – Busiest hours/days</a:t>
            </a:r>
            <a:endParaRPr lang="en-US" sz="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per store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681728" y="4069080"/>
            <a:ext cx="2103120" cy="77724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81728" y="4069080"/>
            <a:ext cx="54864" cy="777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8" name="Text 46"/>
          <p:cNvSpPr/>
          <p:nvPr/>
        </p:nvSpPr>
        <p:spPr>
          <a:xfrm>
            <a:off x="4809744" y="4123944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Q14 – Cultural factors</a:t>
            </a:r>
            <a:endParaRPr lang="en-US" sz="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influencing preferences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922008" y="1115568"/>
            <a:ext cx="2103120" cy="292608"/>
          </a:xfrm>
          <a:prstGeom prst="rect">
            <a:avLst/>
          </a:prstGeom>
          <a:solidFill>
            <a:srgbClr val="A07AF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13448" y="111556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Operations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922008" y="1463040"/>
            <a:ext cx="2103120" cy="77724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22008" y="1463040"/>
            <a:ext cx="54864" cy="777240"/>
          </a:xfrm>
          <a:prstGeom prst="rect">
            <a:avLst/>
          </a:prstGeom>
          <a:solidFill>
            <a:srgbClr val="A07AFF"/>
          </a:solidFill>
          <a:ln/>
        </p:spPr>
      </p:sp>
      <p:sp>
        <p:nvSpPr>
          <p:cNvPr id="53" name="Text 51"/>
          <p:cNvSpPr/>
          <p:nvPr/>
        </p:nvSpPr>
        <p:spPr>
          <a:xfrm>
            <a:off x="7050024" y="1517904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Q3 – Staff performance</a:t>
            </a:r>
            <a:endParaRPr lang="en-US" sz="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vs satisfaction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922008" y="2331720"/>
            <a:ext cx="2103120" cy="77724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22008" y="2331720"/>
            <a:ext cx="54864" cy="777240"/>
          </a:xfrm>
          <a:prstGeom prst="rect">
            <a:avLst/>
          </a:prstGeom>
          <a:solidFill>
            <a:srgbClr val="A07AFF"/>
          </a:solidFill>
          <a:ln/>
        </p:spPr>
      </p:sp>
      <p:sp>
        <p:nvSpPr>
          <p:cNvPr id="56" name="Text 54"/>
          <p:cNvSpPr/>
          <p:nvPr/>
        </p:nvSpPr>
        <p:spPr>
          <a:xfrm>
            <a:off x="7050024" y="2386584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Q8 – Staff availability</a:t>
            </a:r>
            <a:endParaRPr lang="en-US" sz="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vs customer rating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922008" y="3200400"/>
            <a:ext cx="2103120" cy="77724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922008" y="3200400"/>
            <a:ext cx="54864" cy="777240"/>
          </a:xfrm>
          <a:prstGeom prst="rect">
            <a:avLst/>
          </a:prstGeom>
          <a:solidFill>
            <a:srgbClr val="A07AFF"/>
          </a:solidFill>
          <a:ln/>
        </p:spPr>
      </p:sp>
      <p:sp>
        <p:nvSpPr>
          <p:cNvPr id="59" name="Text 57"/>
          <p:cNvSpPr/>
          <p:nvPr/>
        </p:nvSpPr>
        <p:spPr>
          <a:xfrm>
            <a:off x="7050024" y="3255264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Q15 – Language availability</a:t>
            </a:r>
            <a:endParaRPr lang="en-US" sz="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vs rental frequency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01168" y="4773168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</a:rPr>
              <a:t>Tool: PostgreSQL (pgAdmin)  ·  Queries: Window functions, CTEs, JOINs, RANK(), PERCENTILE_CONT()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868680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9BBF"/>
                </a:solidFill>
              </a:rPr>
              <a:t>05 / 11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solidFill>
            <a:srgbClr val="4FB8E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EDA — FINDINGS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28600" y="38404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01168" y="1005840"/>
            <a:ext cx="4251960" cy="118872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005840"/>
            <a:ext cx="4251960" cy="36576"/>
          </a:xfrm>
          <a:prstGeom prst="rect">
            <a:avLst/>
          </a:prstGeom>
          <a:solidFill>
            <a:srgbClr val="4FB8E0"/>
          </a:solidFill>
          <a:ln/>
        </p:spPr>
      </p:sp>
      <p:sp>
        <p:nvSpPr>
          <p:cNvPr id="8" name="Text 6"/>
          <p:cNvSpPr/>
          <p:nvPr/>
        </p:nvSpPr>
        <p:spPr>
          <a:xfrm>
            <a:off x="310896" y="109728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FB8E0"/>
                </a:solidFill>
              </a:rPr>
              <a:t>Q1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10896" y="133502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100% Repeat Customers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" y="162763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All 599 customers are repeat renters — averaging 26.78 rentals each with $112.53 avg spend. Business has strong retention.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81728" y="1005840"/>
            <a:ext cx="4251960" cy="118872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1728" y="1005840"/>
            <a:ext cx="4251960" cy="36576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13" name="Text 11"/>
          <p:cNvSpPr/>
          <p:nvPr/>
        </p:nvSpPr>
        <p:spPr>
          <a:xfrm>
            <a:off x="4791456" y="109728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8A0"/>
                </a:solidFill>
              </a:rPr>
              <a:t>Q2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91456" y="133502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 Films Drive Revenue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91456" y="162763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"Bucket Brotherhood" leads with 34 rentals. High-rate ($4.99) films in Sports, Animation &amp; Family dominate revenue charts.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01168" y="2304288"/>
            <a:ext cx="4251960" cy="118872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" y="2304288"/>
            <a:ext cx="425196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310896" y="23957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A623"/>
                </a:solidFill>
              </a:rPr>
              <a:t>Q4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10896" y="26334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Strong Seasonality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0896" y="29260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Summer 2005 accounted for 91.7% of rentals. July 2005 alone contributed 41% of total revenue — significant concentration risk.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81728" y="2304288"/>
            <a:ext cx="4251960" cy="118872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81728" y="2304288"/>
            <a:ext cx="4251960" cy="36576"/>
          </a:xfrm>
          <a:prstGeom prst="rect">
            <a:avLst/>
          </a:prstGeom>
          <a:solidFill>
            <a:srgbClr val="A07AFF"/>
          </a:solidFill>
          <a:ln/>
        </p:spPr>
      </p:sp>
      <p:sp>
        <p:nvSpPr>
          <p:cNvPr id="23" name="Text 21"/>
          <p:cNvSpPr/>
          <p:nvPr/>
        </p:nvSpPr>
        <p:spPr>
          <a:xfrm>
            <a:off x="4791456" y="23957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07AFF"/>
                </a:solidFill>
              </a:rPr>
              <a:t>Q6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91456" y="26334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Loyalty Tier Impact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91456" y="29260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Gold tier (25-39 rentals) drives 71.54% of revenue with 392 customers. Platinum tier earns $185/customer on avg.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01168" y="3602736"/>
            <a:ext cx="4251960" cy="118872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1168" y="3602736"/>
            <a:ext cx="4251960" cy="36576"/>
          </a:xfrm>
          <a:prstGeom prst="rect">
            <a:avLst/>
          </a:prstGeom>
          <a:solidFill>
            <a:srgbClr val="F97B6B"/>
          </a:solidFill>
          <a:ln/>
        </p:spPr>
      </p:sp>
      <p:sp>
        <p:nvSpPr>
          <p:cNvPr id="28" name="Text 26"/>
          <p:cNvSpPr/>
          <p:nvPr/>
        </p:nvSpPr>
        <p:spPr>
          <a:xfrm>
            <a:off x="310896" y="369417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97B6B"/>
                </a:solidFill>
              </a:rPr>
              <a:t>Q7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10896" y="39319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Geographic Preferences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10896" y="422452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India &amp; China are top customer countries (60, 53). Sci-Fi, Sports &amp; Animation are the most geographically widespread genres.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81728" y="3602736"/>
            <a:ext cx="4251960" cy="118872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1728" y="3602736"/>
            <a:ext cx="4251960" cy="36576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3" name="Text 31"/>
          <p:cNvSpPr/>
          <p:nvPr/>
        </p:nvSpPr>
        <p:spPr>
          <a:xfrm>
            <a:off x="4791456" y="369417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8A0"/>
                </a:solidFill>
              </a:rPr>
              <a:t>Q12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91456" y="39319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Inventory Gap Identified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91456" y="422452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11 films flagged as 'Low Stock' despite high demand (5 rentals/copy). These represent direct lost revenue opportunities.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68680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9BBF"/>
                </a:solidFill>
              </a:rPr>
              <a:t>06 / 11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solidFill>
            <a:srgbClr val="A07A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POWER BI — DATA MODEL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28600" y="38404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Modelling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035040" y="914400"/>
            <a:ext cx="45720" cy="475488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7" name="Text 5"/>
          <p:cNvSpPr/>
          <p:nvPr/>
        </p:nvSpPr>
        <p:spPr>
          <a:xfrm>
            <a:off x="6172200" y="91440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8A0"/>
                </a:solidFill>
              </a:rPr>
              <a:t>Schema Type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172200" y="113385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A9BBF"/>
                </a:solidFill>
              </a:rPr>
              <a:t>Star Schema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035040" y="1572768"/>
            <a:ext cx="45720" cy="47548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6172200" y="157276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A623"/>
                </a:solidFill>
              </a:rPr>
              <a:t>Fact Tables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172200" y="179222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A9BBF"/>
                </a:solidFill>
              </a:rPr>
              <a:t>Payment · Rental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035040" y="2231136"/>
            <a:ext cx="45720" cy="475488"/>
          </a:xfrm>
          <a:prstGeom prst="rect">
            <a:avLst/>
          </a:prstGeom>
          <a:solidFill>
            <a:srgbClr val="4FB8E0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223113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FB8E0"/>
                </a:solidFill>
              </a:rPr>
              <a:t>Dim Tables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172200" y="24505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A9BBF"/>
                </a:solidFill>
              </a:rPr>
              <a:t>Film · Customer · Store · Staff · Date · Category · Language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035040" y="2889504"/>
            <a:ext cx="45720" cy="475488"/>
          </a:xfrm>
          <a:prstGeom prst="rect">
            <a:avLst/>
          </a:prstGeom>
          <a:solidFill>
            <a:srgbClr val="A07AFF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288950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07AFF"/>
                </a:solidFill>
              </a:rPr>
              <a:t>Relationships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172200" y="31089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A9BBF"/>
                </a:solidFill>
              </a:rPr>
              <a:t>One-to-Many (1:*) across all joins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35040" y="3547872"/>
            <a:ext cx="45720" cy="475488"/>
          </a:xfrm>
          <a:prstGeom prst="rect">
            <a:avLst/>
          </a:prstGeom>
          <a:solidFill>
            <a:srgbClr val="F97B6B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354787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97B6B"/>
                </a:solidFill>
              </a:rPr>
              <a:t>DAX Measures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72200" y="376732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A9BBF"/>
                </a:solidFill>
              </a:rPr>
              <a:t>Active Customer %, Revenue per Customer, Customer Segment, Rental Duration Bucket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035040" y="4206240"/>
            <a:ext cx="45720" cy="475488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420624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8A0"/>
                </a:solidFill>
              </a:rPr>
              <a:t>Date Table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72200" y="442569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A9BBF"/>
                </a:solidFill>
              </a:rPr>
              <a:t>Custom DateTable with Day, Month, Day of Week columns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01168" y="868680"/>
            <a:ext cx="5669280" cy="397764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1168" y="868680"/>
            <a:ext cx="5669280" cy="39776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868680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9BBF"/>
                </a:solidFill>
              </a:rPr>
              <a:t>07 / 11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POWER BI — DASHBOARDS (1/2)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28600" y="38404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 &amp;  Sales &amp; Revenue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01168" y="932688"/>
            <a:ext cx="4251960" cy="2816352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8A0"/>
                </a:solidFill>
              </a:rPr>
              <a:t>📊  Overview Dashboard</a:t>
            </a:r>
            <a:endParaRPr lang="en-US" sz="8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1168" y="1188720"/>
            <a:ext cx="4251960" cy="2514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663440" y="932688"/>
            <a:ext cx="4251960" cy="2816352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36592" y="9601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</a:rPr>
              <a:t>💰  Sales &amp; Revenue Dashboard</a:t>
            </a:r>
            <a:endParaRPr lang="en-US" sz="8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1188720"/>
            <a:ext cx="4251960" cy="2514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1168" y="376732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9BBF"/>
                </a:solidFill>
              </a:rPr>
              <a:t>KPI cards · Area chart · World map · Donut chart · Category bars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4663440" y="376732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9BBF"/>
                </a:solidFill>
              </a:rPr>
              <a:t>Monthly trend · Revenue by store/month · Category revenue bars · Slicers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868680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9BBF"/>
                </a:solidFill>
              </a:rPr>
              <a:t>08 / 11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solidFill>
            <a:srgbClr val="4FB8E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POWER BI — DASHBOARDS (2/2)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28600" y="38404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Analysis  &amp;  Film &amp; Inventory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01168" y="932688"/>
            <a:ext cx="4251960" cy="2816352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FB8E0"/>
                </a:solidFill>
              </a:rPr>
              <a:t>👥  Customer Analysis Dashboard</a:t>
            </a:r>
            <a:endParaRPr lang="en-US" sz="8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1168" y="1188720"/>
            <a:ext cx="4251960" cy="2514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663440" y="932688"/>
            <a:ext cx="4251960" cy="2816352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36592" y="9601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8A0"/>
                </a:solidFill>
              </a:rPr>
              <a:t>🎬  Film &amp; Inventory Dashboard</a:t>
            </a:r>
            <a:endParaRPr lang="en-US" sz="8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1188720"/>
            <a:ext cx="4251960" cy="2514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1168" y="376732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9BBF"/>
                </a:solidFill>
              </a:rPr>
              <a:t>Segmentation donut · Active % · Country bars · Scatter plot · Top customers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4663440" y="376732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9BBF"/>
                </a:solidFill>
              </a:rPr>
              <a:t>Category distribution · Rating donut · Top rented films · Duration buckets · KPIs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201168" y="4114800"/>
            <a:ext cx="8732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5A623"/>
                </a:solidFill>
              </a:rPr>
              <a:t>🔍  Insights page included: Sales · Customer · Film · Limitations · Recommendations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68680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9BBF"/>
                </a:solidFill>
              </a:rPr>
              <a:t>09 / 11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OVERALL INSIGHTS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28600" y="38404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Business Insights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01168" y="1005840"/>
            <a:ext cx="2788920" cy="292608"/>
          </a:xfrm>
          <a:prstGeom prst="rect">
            <a:avLst/>
          </a:prstGeom>
          <a:solidFill>
            <a:srgbClr val="F5A62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0058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REVENUE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1371600"/>
            <a:ext cx="2788920" cy="713232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" y="1572768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146304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Total revenue of $67,406 from 16,044 rentals across 5 months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1168" y="2148840"/>
            <a:ext cx="2788920" cy="713232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2350008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224028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July 2005 contributed 41% of total revenue — high seasonal concentration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01168" y="2926080"/>
            <a:ext cx="2788920" cy="713232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3127248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" y="301752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Both stores are nearly equal: Store 1 (49.73%) vs Store 2 (50.27%)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01168" y="3703320"/>
            <a:ext cx="2788920" cy="713232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" y="3904488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" y="379476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Sports ($5.3K) and Sci-Fi ($4.8K) are the top 2 revenue categories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82112" y="1005840"/>
            <a:ext cx="2788920" cy="292608"/>
          </a:xfrm>
          <a:prstGeom prst="rect">
            <a:avLst/>
          </a:prstGeom>
          <a:solidFill>
            <a:srgbClr val="4FB8E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73552" y="10058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CUSTOMERS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82112" y="1371600"/>
            <a:ext cx="2788920" cy="713232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73552" y="1572768"/>
            <a:ext cx="73152" cy="73152"/>
          </a:xfrm>
          <a:prstGeom prst="rect">
            <a:avLst/>
          </a:prstGeom>
          <a:solidFill>
            <a:srgbClr val="4FB8E0"/>
          </a:solidFill>
          <a:ln/>
        </p:spPr>
      </p:sp>
      <p:sp>
        <p:nvSpPr>
          <p:cNvPr id="24" name="Text 22"/>
          <p:cNvSpPr/>
          <p:nvPr/>
        </p:nvSpPr>
        <p:spPr>
          <a:xfrm>
            <a:off x="3419856" y="146304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97.5% active customers — very high retention rate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182112" y="2148840"/>
            <a:ext cx="2788920" cy="713232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73552" y="2350008"/>
            <a:ext cx="73152" cy="73152"/>
          </a:xfrm>
          <a:prstGeom prst="rect">
            <a:avLst/>
          </a:prstGeom>
          <a:solidFill>
            <a:srgbClr val="4FB8E0"/>
          </a:solidFill>
          <a:ln/>
        </p:spPr>
      </p:sp>
      <p:sp>
        <p:nvSpPr>
          <p:cNvPr id="27" name="Text 25"/>
          <p:cNvSpPr/>
          <p:nvPr/>
        </p:nvSpPr>
        <p:spPr>
          <a:xfrm>
            <a:off x="3419856" y="224028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58.26% Medium Value, 34.06% Low Value, 7.68% High Value customers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182112" y="2926080"/>
            <a:ext cx="2788920" cy="713232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73552" y="3127248"/>
            <a:ext cx="73152" cy="73152"/>
          </a:xfrm>
          <a:prstGeom prst="rect">
            <a:avLst/>
          </a:prstGeom>
          <a:solidFill>
            <a:srgbClr val="4FB8E0"/>
          </a:solidFill>
          <a:ln/>
        </p:spPr>
      </p:sp>
      <p:sp>
        <p:nvSpPr>
          <p:cNvPr id="30" name="Text 28"/>
          <p:cNvSpPr/>
          <p:nvPr/>
        </p:nvSpPr>
        <p:spPr>
          <a:xfrm>
            <a:off x="3419856" y="301752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India (60) and China (53) are the top 2 customer countries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182112" y="3703320"/>
            <a:ext cx="2788920" cy="713232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73552" y="3904488"/>
            <a:ext cx="73152" cy="73152"/>
          </a:xfrm>
          <a:prstGeom prst="rect">
            <a:avLst/>
          </a:prstGeom>
          <a:solidFill>
            <a:srgbClr val="4FB8E0"/>
          </a:solidFill>
          <a:ln/>
        </p:spPr>
      </p:sp>
      <p:sp>
        <p:nvSpPr>
          <p:cNvPr id="33" name="Text 31"/>
          <p:cNvSpPr/>
          <p:nvPr/>
        </p:nvSpPr>
        <p:spPr>
          <a:xfrm>
            <a:off x="3419856" y="379476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Top spender Marion generated $310 in total revenue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63056" y="1005840"/>
            <a:ext cx="2788920" cy="292608"/>
          </a:xfrm>
          <a:prstGeom prst="rect">
            <a:avLst/>
          </a:prstGeom>
          <a:solidFill>
            <a:srgbClr val="00C8A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54496" y="10058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FILM &amp; INVENTORY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63056" y="1371600"/>
            <a:ext cx="2788920" cy="713232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54496" y="1572768"/>
            <a:ext cx="73152" cy="73152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146304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1,000 films, 4,581 inventory items — 99.98% utilization rate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63056" y="2148840"/>
            <a:ext cx="2788920" cy="713232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54496" y="2350008"/>
            <a:ext cx="73152" cy="73152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0" y="224028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Sports is most rented category (1,179 rentals); Children lowest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63056" y="2926080"/>
            <a:ext cx="2788920" cy="713232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54496" y="3127248"/>
            <a:ext cx="73152" cy="73152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0" y="301752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Majority of films (403) have 6–7-days rental window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63056" y="3703320"/>
            <a:ext cx="2788920" cy="713232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54496" y="3904488"/>
            <a:ext cx="73152" cy="73152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0" y="379476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11 high-demand films are flagged as Low Stock — lost revenue risk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68680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9BBF"/>
                </a:solidFill>
              </a:rPr>
              <a:t>10 / 11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solidFill>
            <a:srgbClr val="F97B6B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RECOMMENDATIONS &amp; CONCLUSION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28600" y="38404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 &amp;  Conclusion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1168" y="8961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B6B"/>
                </a:solidFill>
              </a:rPr>
              <a:t>RECOMMENDATIONS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" y="1207008"/>
            <a:ext cx="4754880" cy="603504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207008"/>
            <a:ext cx="54864" cy="6035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243584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1261872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Launch promotions in Feb, May &amp; Jun to reduce over-reliance on July revenue peak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1168" y="1892808"/>
            <a:ext cx="4754880" cy="603504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1892808"/>
            <a:ext cx="54864" cy="603504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1929384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A0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1947672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Create loyalty program for High Value customers (7.68%) — protect top revenue segment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01168" y="2578608"/>
            <a:ext cx="4754880" cy="603504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" y="2578608"/>
            <a:ext cx="54864" cy="603504"/>
          </a:xfrm>
          <a:prstGeom prst="rect">
            <a:avLst/>
          </a:prstGeom>
          <a:solidFill>
            <a:srgbClr val="4FB8E0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615184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B8E0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" y="2633472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Restock the 11 Low Stock high-demand films — each has 5+ rentals per copy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01168" y="3264408"/>
            <a:ext cx="4754880" cy="603504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" y="3264408"/>
            <a:ext cx="54864" cy="603504"/>
          </a:xfrm>
          <a:prstGeom prst="rect">
            <a:avLst/>
          </a:prstGeom>
          <a:solidFill>
            <a:srgbClr val="A07AFF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300984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07AFF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" y="3319272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India &amp; China dominate customer base — add regional language content (Hindi, Mandarin)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01168" y="3950208"/>
            <a:ext cx="4754880" cy="603504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168" y="3950208"/>
            <a:ext cx="54864" cy="603504"/>
          </a:xfrm>
          <a:prstGeom prst="rect">
            <a:avLst/>
          </a:prstGeom>
          <a:solidFill>
            <a:srgbClr val="F97B6B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3986784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B6B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" y="4005072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Implement post-rental survey to replace proxy satisfaction metrics with direct feedback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166360" y="8961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A0"/>
                </a:solidFill>
              </a:rPr>
              <a:t>CONCLUSION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166360" y="1207008"/>
            <a:ext cx="3749040" cy="3090672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30368" y="1261872"/>
            <a:ext cx="54864" cy="54864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0" name="Text 28"/>
          <p:cNvSpPr/>
          <p:nvPr/>
        </p:nvSpPr>
        <p:spPr>
          <a:xfrm>
            <a:off x="5376672" y="126187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A0"/>
                </a:solidFill>
              </a:rPr>
              <a:t>Operational Efficiency is Strong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76672" y="151790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7A9BBF"/>
                </a:solidFill>
              </a:rPr>
              <a:t>Both stores perform equally. 97.5% customer retention signals a healthy business.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230368" y="2011680"/>
            <a:ext cx="54864" cy="5486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3" name="Text 31"/>
          <p:cNvSpPr/>
          <p:nvPr/>
        </p:nvSpPr>
        <p:spPr>
          <a:xfrm>
            <a:off x="5376672" y="201168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</a:rPr>
              <a:t>Revenue Seasonality is a Risk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76672" y="226771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7A9BBF"/>
                </a:solidFill>
              </a:rPr>
              <a:t>Over-dependence on summer 2005 makes the business vulnerable without off-season strategies.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230368" y="2761488"/>
            <a:ext cx="54864" cy="548640"/>
          </a:xfrm>
          <a:prstGeom prst="rect">
            <a:avLst/>
          </a:prstGeom>
          <a:solidFill>
            <a:srgbClr val="4FB8E0"/>
          </a:solidFill>
          <a:ln/>
        </p:spPr>
      </p:sp>
      <p:sp>
        <p:nvSpPr>
          <p:cNvPr id="36" name="Text 34"/>
          <p:cNvSpPr/>
          <p:nvPr/>
        </p:nvSpPr>
        <p:spPr>
          <a:xfrm>
            <a:off x="5376672" y="276148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FB8E0"/>
                </a:solidFill>
              </a:rPr>
              <a:t>Content Gap Identified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76672" y="301752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7A9BBF"/>
                </a:solidFill>
              </a:rPr>
              <a:t>Entire catalog is English-only. Non-English films could unlock new customer segments globally.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230368" y="3511296"/>
            <a:ext cx="54864" cy="548640"/>
          </a:xfrm>
          <a:prstGeom prst="rect">
            <a:avLst/>
          </a:prstGeom>
          <a:solidFill>
            <a:srgbClr val="A07AFF"/>
          </a:solidFill>
          <a:ln/>
        </p:spPr>
      </p:sp>
      <p:sp>
        <p:nvSpPr>
          <p:cNvPr id="39" name="Text 37"/>
          <p:cNvSpPr/>
          <p:nvPr/>
        </p:nvSpPr>
        <p:spPr>
          <a:xfrm>
            <a:off x="5376672" y="351129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07AFF"/>
                </a:solidFill>
              </a:rPr>
              <a:t>Inventory Optimisation Needed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76672" y="376732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7A9BBF"/>
                </a:solidFill>
              </a:rPr>
              <a:t>Low Stock films vs high demand = missed revenue. A restock protocol should be implemented.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01168" y="4462272"/>
            <a:ext cx="8741664" cy="384048"/>
          </a:xfrm>
          <a:prstGeom prst="rect">
            <a:avLst/>
          </a:prstGeom>
          <a:solidFill>
            <a:srgbClr val="0F25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46227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</a:rPr>
              <a:t>Dataset: Sakila DVD Rental   |   Tools: PostgreSQL · Excel · Power BI   |   Period: May 2005 – Feb 2006   |   Rows Analysed: 16,044 rentals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868680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9BBF"/>
                </a:solidFill>
              </a:rPr>
              <a:t>11 / 11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1110</Words>
  <Application>Microsoft Office PowerPoint</Application>
  <PresentationFormat>On-screen Show (16:9)</PresentationFormat>
  <Paragraphs>227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Rental Analytics</dc:title>
  <dc:subject>PptxGenJS Presentation</dc:subject>
  <dc:creator>Data Analytics Project</dc:creator>
  <cp:lastModifiedBy>Tanishq khavate</cp:lastModifiedBy>
  <cp:revision>2</cp:revision>
  <dcterms:created xsi:type="dcterms:W3CDTF">2026-05-10T11:21:49Z</dcterms:created>
  <dcterms:modified xsi:type="dcterms:W3CDTF">2026-05-10T11:31:21Z</dcterms:modified>
</cp:coreProperties>
</file>